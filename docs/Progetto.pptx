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60" r:id="rId5"/>
    <p:sldId id="266" r:id="rId6"/>
    <p:sldId id="257" r:id="rId7"/>
    <p:sldId id="265" r:id="rId8"/>
    <p:sldId id="267" r:id="rId9"/>
    <p:sldId id="259" r:id="rId10"/>
    <p:sldId id="261" r:id="rId1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100" d="100"/>
          <a:sy n="100" d="100"/>
        </p:scale>
        <p:origin x="85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smtClean="0"/>
              <a:t>Fare clic per modificare lo stile del titolo</a:t>
            </a:r>
            <a:endParaRPr lang="it-IT"/>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906F1A6E-786A-49A9-BC38-A7745CA76D29}" type="datetimeFigureOut">
              <a:rPr lang="it-IT" smtClean="0"/>
              <a:t>09/01/2026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255355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06F1A6E-786A-49A9-BC38-A7745CA76D29}" type="datetimeFigureOut">
              <a:rPr lang="it-IT" smtClean="0"/>
              <a:t>09/01/2026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3919155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smtClean="0"/>
              <a:t>Fare clic per modificare lo stile del titolo</a:t>
            </a:r>
            <a:endParaRPr lang="it-IT"/>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smtClean="0"/>
              <a:t>Modifica gli stili del testo dello schema</a:t>
            </a:r>
          </a:p>
        </p:txBody>
      </p:sp>
      <p:sp>
        <p:nvSpPr>
          <p:cNvPr id="4" name="Segnaposto data 3"/>
          <p:cNvSpPr>
            <a:spLocks noGrp="1"/>
          </p:cNvSpPr>
          <p:nvPr>
            <p:ph type="dt" sz="half" idx="10"/>
          </p:nvPr>
        </p:nvSpPr>
        <p:spPr/>
        <p:txBody>
          <a:bodyPr/>
          <a:lstStyle/>
          <a:p>
            <a:fld id="{906F1A6E-786A-49A9-BC38-A7745CA76D29}" type="datetimeFigureOut">
              <a:rPr lang="it-IT" smtClean="0"/>
              <a:t>09/01/2026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1061814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838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6172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906F1A6E-786A-49A9-BC38-A7745CA76D29}" type="datetimeFigureOut">
              <a:rPr lang="it-IT" smtClean="0"/>
              <a:t>09/01/2026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3230401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smtClean="0"/>
              <a:t>Fare clic per modificare lo stile del titolo</a:t>
            </a:r>
            <a:endParaRPr lang="it-IT"/>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906F1A6E-786A-49A9-BC38-A7745CA76D29}" type="datetimeFigureOut">
              <a:rPr lang="it-IT" smtClean="0"/>
              <a:t>09/01/2026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1728617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906F1A6E-786A-49A9-BC38-A7745CA76D29}" type="datetimeFigureOut">
              <a:rPr lang="it-IT" smtClean="0"/>
              <a:t>09/01/2026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4150880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906F1A6E-786A-49A9-BC38-A7745CA76D29}" type="datetimeFigureOut">
              <a:rPr lang="it-IT" smtClean="0"/>
              <a:t>09/01/2026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1058142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Segnaposto data 4"/>
          <p:cNvSpPr>
            <a:spLocks noGrp="1"/>
          </p:cNvSpPr>
          <p:nvPr>
            <p:ph type="dt" sz="half" idx="10"/>
          </p:nvPr>
        </p:nvSpPr>
        <p:spPr/>
        <p:txBody>
          <a:bodyPr/>
          <a:lstStyle/>
          <a:p>
            <a:fld id="{906F1A6E-786A-49A9-BC38-A7745CA76D29}" type="datetimeFigureOut">
              <a:rPr lang="it-IT" smtClean="0"/>
              <a:t>09/01/2026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198361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Segnaposto data 4"/>
          <p:cNvSpPr>
            <a:spLocks noGrp="1"/>
          </p:cNvSpPr>
          <p:nvPr>
            <p:ph type="dt" sz="half" idx="10"/>
          </p:nvPr>
        </p:nvSpPr>
        <p:spPr/>
        <p:txBody>
          <a:bodyPr/>
          <a:lstStyle/>
          <a:p>
            <a:fld id="{906F1A6E-786A-49A9-BC38-A7745CA76D29}" type="datetimeFigureOut">
              <a:rPr lang="it-IT" smtClean="0"/>
              <a:t>09/01/2026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261916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06F1A6E-786A-49A9-BC38-A7745CA76D29}" type="datetimeFigureOut">
              <a:rPr lang="it-IT" smtClean="0"/>
              <a:t>09/01/2026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3599981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06F1A6E-786A-49A9-BC38-A7745CA76D29}" type="datetimeFigureOut">
              <a:rPr lang="it-IT" smtClean="0"/>
              <a:t>09/01/2026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DBA56CBE-3F03-4BEE-B280-EC6007DAD102}" type="slidenum">
              <a:rPr lang="it-IT" smtClean="0"/>
              <a:t>‹N›</a:t>
            </a:fld>
            <a:endParaRPr lang="it-IT"/>
          </a:p>
        </p:txBody>
      </p:sp>
    </p:spTree>
    <p:extLst>
      <p:ext uri="{BB962C8B-B14F-4D97-AF65-F5344CB8AC3E}">
        <p14:creationId xmlns:p14="http://schemas.microsoft.com/office/powerpoint/2010/main" val="1958019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6F1A6E-786A-49A9-BC38-A7745CA76D29}" type="datetimeFigureOut">
              <a:rPr lang="it-IT" smtClean="0"/>
              <a:t>09/01/2026</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56CBE-3F03-4BEE-B280-EC6007DAD102}" type="slidenum">
              <a:rPr lang="it-IT" smtClean="0"/>
              <a:t>‹N›</a:t>
            </a:fld>
            <a:endParaRPr lang="it-IT"/>
          </a:p>
        </p:txBody>
      </p:sp>
    </p:spTree>
    <p:extLst>
      <p:ext uri="{BB962C8B-B14F-4D97-AF65-F5344CB8AC3E}">
        <p14:creationId xmlns:p14="http://schemas.microsoft.com/office/powerpoint/2010/main" val="229534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ommaso.godino01@universitadipavia.it" TargetMode="External"/><Relationship Id="rId2" Type="http://schemas.openxmlformats.org/officeDocument/2006/relationships/hyperlink" Target="mailto:pablo.rimoldi01@universitadipavia.it" TargetMode="External"/><Relationship Id="rId1" Type="http://schemas.openxmlformats.org/officeDocument/2006/relationships/slideLayout" Target="../slideLayouts/slideLayout1.xml"/><Relationship Id="rId5" Type="http://schemas.openxmlformats.org/officeDocument/2006/relationships/hyperlink" Target="mailto:giacomo.colombo04@universitadipavia.it" TargetMode="External"/><Relationship Id="rId4" Type="http://schemas.openxmlformats.org/officeDocument/2006/relationships/hyperlink" Target="mailto:andrea.depaola02@universitadipavia.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383631" y="331331"/>
            <a:ext cx="7856622"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it-IT" altLang="it-IT" sz="1800" b="0" i="0" u="none" strike="noStrike" cap="none" normalizeH="0" baseline="0" dirty="0" smtClean="0">
                <a:ln>
                  <a:noFill/>
                </a:ln>
                <a:effectLst/>
                <a:latin typeface="+mj-lt"/>
                <a:cs typeface="Arial" panose="020B0604020202020204" pitchFamily="34" charset="0"/>
              </a:rPr>
              <a:t>PROJECT: </a:t>
            </a:r>
            <a:r>
              <a:rPr lang="en-US" dirty="0"/>
              <a:t>Seeing the Uncanny: Neural Classification of Artificial </a:t>
            </a:r>
            <a:r>
              <a:rPr lang="en-US" dirty="0" smtClean="0"/>
              <a:t>Faces</a:t>
            </a:r>
          </a:p>
          <a:p>
            <a:pPr lvl="0"/>
            <a:endParaRPr kumimoji="0" lang="en-US" altLang="it-IT" sz="1800" b="0" i="0" u="none" strike="noStrike" cap="none" normalizeH="0" baseline="0" dirty="0">
              <a:ln>
                <a:noFill/>
              </a:ln>
              <a:effectLst/>
              <a:latin typeface="+mj-lt"/>
              <a:cs typeface="Arial" panose="020B0604020202020204" pitchFamily="34" charset="0"/>
            </a:endParaRPr>
          </a:p>
          <a:p>
            <a:pPr lvl="0"/>
            <a:r>
              <a:rPr kumimoji="0" lang="it-IT" altLang="it-IT" sz="1800" b="0" i="0" u="none" strike="noStrike" cap="none" normalizeH="0" baseline="0" dirty="0" smtClean="0">
                <a:ln>
                  <a:noFill/>
                </a:ln>
                <a:effectLst/>
                <a:latin typeface="+mj-lt"/>
                <a:cs typeface="Arial" panose="020B0604020202020204" pitchFamily="34" charset="0"/>
              </a:rPr>
              <a:t>P.I. prof Alice Mado proverbio, </a:t>
            </a:r>
            <a:r>
              <a:rPr kumimoji="0" lang="it-IT" altLang="it-IT" sz="1800" b="0" i="0" u="none" strike="noStrike" cap="none" normalizeH="0" baseline="0" dirty="0" err="1" smtClean="0">
                <a:ln>
                  <a:noFill/>
                </a:ln>
                <a:effectLst/>
                <a:latin typeface="+mj-lt"/>
                <a:cs typeface="Arial" panose="020B0604020202020204" pitchFamily="34" charset="0"/>
              </a:rPr>
              <a:t>Univ</a:t>
            </a:r>
            <a:r>
              <a:rPr kumimoji="0" lang="it-IT" altLang="it-IT" sz="1800" b="0" i="0" u="none" strike="noStrike" cap="none" normalizeH="0" baseline="0" dirty="0" smtClean="0">
                <a:ln>
                  <a:noFill/>
                </a:ln>
                <a:effectLst/>
                <a:latin typeface="+mj-lt"/>
                <a:cs typeface="Arial" panose="020B0604020202020204" pitchFamily="34" charset="0"/>
              </a:rPr>
              <a:t>. Milano-Bicocca</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smtClean="0">
                <a:ln>
                  <a:noFill/>
                </a:ln>
                <a:effectLst/>
                <a:latin typeface="+mj-lt"/>
                <a:cs typeface="Arial" panose="020B0604020202020204" pitchFamily="34" charset="0"/>
              </a:rPr>
              <a:t>Pablo </a:t>
            </a:r>
            <a:r>
              <a:rPr kumimoji="0" lang="it-IT" altLang="it-IT" sz="1800" b="0" i="0" u="none" strike="noStrike" cap="none" normalizeH="0" baseline="0" dirty="0" err="1" smtClean="0">
                <a:ln>
                  <a:noFill/>
                </a:ln>
                <a:effectLst/>
                <a:latin typeface="+mj-lt"/>
                <a:cs typeface="Arial" panose="020B0604020202020204" pitchFamily="34" charset="0"/>
              </a:rPr>
              <a:t>Rimoldi</a:t>
            </a:r>
            <a:r>
              <a:rPr kumimoji="0" lang="it-IT" altLang="it-IT" sz="1800" b="0" i="0" u="none" strike="noStrike" cap="none" normalizeH="0" baseline="0" dirty="0" smtClean="0">
                <a:ln>
                  <a:noFill/>
                </a:ln>
                <a:effectLst/>
                <a:latin typeface="+mj-lt"/>
                <a:cs typeface="Arial" panose="020B0604020202020204" pitchFamily="34" charset="0"/>
              </a:rPr>
              <a:t> </a:t>
            </a:r>
            <a:r>
              <a:rPr kumimoji="0" lang="it-IT" altLang="it-IT" sz="1800" b="0" i="0" u="none" strike="noStrike" cap="none" normalizeH="0" baseline="0" dirty="0" smtClean="0">
                <a:ln>
                  <a:noFill/>
                </a:ln>
                <a:effectLst/>
                <a:latin typeface="+mj-lt"/>
                <a:cs typeface="Arial" panose="020B0604020202020204" pitchFamily="34" charset="0"/>
                <a:hlinkClick r:id="rId2"/>
              </a:rPr>
              <a:t>pablo.rimoldi01@universitadipavia.it</a:t>
            </a:r>
            <a:endParaRPr kumimoji="0" lang="it-IT" altLang="it-IT" sz="1800" b="0" i="0" u="none" strike="noStrike" cap="none" normalizeH="0" baseline="0" dirty="0" smtClean="0">
              <a:ln>
                <a:noFill/>
              </a:ln>
              <a:effectLst/>
              <a:latin typeface="+mj-lt"/>
              <a:cs typeface="Arial" panose="020B0604020202020204" pitchFamily="34" charset="0"/>
            </a:endParaRPr>
          </a:p>
          <a:p>
            <a:pPr lvl="0"/>
            <a:r>
              <a:rPr lang="it-IT" altLang="it-IT" dirty="0" smtClean="0">
                <a:latin typeface="+mj-lt"/>
                <a:cs typeface="Arial" panose="020B0604020202020204" pitchFamily="34" charset="0"/>
              </a:rPr>
              <a:t>Tommaso </a:t>
            </a:r>
            <a:r>
              <a:rPr lang="it-IT" altLang="it-IT" dirty="0" err="1" smtClean="0">
                <a:latin typeface="+mj-lt"/>
                <a:cs typeface="Arial" panose="020B0604020202020204" pitchFamily="34" charset="0"/>
              </a:rPr>
              <a:t>Godino</a:t>
            </a:r>
            <a:r>
              <a:rPr lang="it-IT" altLang="it-IT" dirty="0" smtClean="0">
                <a:latin typeface="+mj-lt"/>
                <a:cs typeface="Arial" panose="020B0604020202020204" pitchFamily="34" charset="0"/>
              </a:rPr>
              <a:t> </a:t>
            </a:r>
            <a:r>
              <a:rPr lang="it-IT" dirty="0" smtClean="0">
                <a:latin typeface="+mj-lt"/>
                <a:hlinkClick r:id="rId3"/>
              </a:rPr>
              <a:t>tommaso.godino01@universitadipavia.it</a:t>
            </a:r>
            <a:endParaRPr lang="it-IT" dirty="0" smtClean="0">
              <a:latin typeface="+mj-lt"/>
            </a:endParaRPr>
          </a:p>
          <a:p>
            <a:pPr lvl="0"/>
            <a:r>
              <a:rPr kumimoji="0" lang="it-IT" altLang="it-IT" sz="1800" b="0" i="0" u="none" strike="noStrike" cap="none" normalizeH="0" baseline="0" dirty="0" smtClean="0">
                <a:ln>
                  <a:noFill/>
                </a:ln>
                <a:effectLst/>
                <a:latin typeface="+mj-lt"/>
                <a:cs typeface="Arial" panose="020B0604020202020204" pitchFamily="34" charset="0"/>
              </a:rPr>
              <a:t>Andrea De </a:t>
            </a:r>
            <a:r>
              <a:rPr lang="it-IT" altLang="it-IT" dirty="0">
                <a:latin typeface="+mj-lt"/>
                <a:cs typeface="Arial" panose="020B0604020202020204" pitchFamily="34" charset="0"/>
              </a:rPr>
              <a:t>Paola </a:t>
            </a:r>
            <a:r>
              <a:rPr lang="it-IT" altLang="it-IT" dirty="0" smtClean="0">
                <a:latin typeface="+mj-lt"/>
                <a:cs typeface="Arial" panose="020B0604020202020204" pitchFamily="34" charset="0"/>
                <a:hlinkClick r:id="rId4"/>
              </a:rPr>
              <a:t>andrea.depaola02@universitadipavia.it</a:t>
            </a:r>
            <a:endParaRPr lang="it-IT" altLang="it-IT" dirty="0" smtClean="0">
              <a:latin typeface="+mj-lt"/>
              <a:cs typeface="Arial" panose="020B0604020202020204" pitchFamily="34" charset="0"/>
            </a:endParaRPr>
          </a:p>
          <a:p>
            <a:pPr lvl="0"/>
            <a:r>
              <a:rPr lang="it-IT" altLang="it-IT" dirty="0" smtClean="0">
                <a:latin typeface="+mj-lt"/>
                <a:cs typeface="Arial" panose="020B0604020202020204" pitchFamily="34" charset="0"/>
              </a:rPr>
              <a:t>Giacomo </a:t>
            </a:r>
            <a:r>
              <a:rPr lang="it-IT" altLang="it-IT" dirty="0">
                <a:latin typeface="+mj-lt"/>
                <a:cs typeface="Arial" panose="020B0604020202020204" pitchFamily="34" charset="0"/>
              </a:rPr>
              <a:t>Colombo </a:t>
            </a:r>
            <a:r>
              <a:rPr lang="it-IT" altLang="it-IT" dirty="0" smtClean="0">
                <a:latin typeface="+mj-lt"/>
                <a:cs typeface="Arial" panose="020B0604020202020204" pitchFamily="34" charset="0"/>
                <a:hlinkClick r:id="rId5"/>
              </a:rPr>
              <a:t>giacomo.colombo04@universitadipavia.it</a:t>
            </a:r>
            <a:endParaRPr lang="it-IT" altLang="it-IT" dirty="0" smtClean="0">
              <a:latin typeface="+mj-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it-IT" altLang="it-IT" dirty="0" smtClean="0">
                <a:latin typeface="+mj-lt"/>
                <a:cs typeface="Arial" panose="020B0604020202020204" pitchFamily="34" charset="0"/>
              </a:rPr>
              <a:t>(Prof Claudia </a:t>
            </a:r>
            <a:r>
              <a:rPr lang="it-IT" altLang="it-IT" dirty="0" err="1" smtClean="0">
                <a:latin typeface="+mj-lt"/>
                <a:cs typeface="Arial" panose="020B0604020202020204" pitchFamily="34" charset="0"/>
              </a:rPr>
              <a:t>Casellato</a:t>
            </a:r>
            <a:r>
              <a:rPr lang="it-IT" altLang="it-IT" dirty="0" smtClean="0">
                <a:latin typeface="+mj-l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dirty="0" smtClean="0">
              <a:latin typeface="+mj-lt"/>
              <a:cs typeface="Arial" panose="020B0604020202020204" pitchFamily="34" charset="0"/>
            </a:endParaRPr>
          </a:p>
          <a:p>
            <a:pPr lvl="0"/>
            <a:r>
              <a:rPr lang="it-IT" altLang="it-IT" dirty="0">
                <a:solidFill>
                  <a:srgbClr val="222222"/>
                </a:solidFill>
                <a:latin typeface="+mj-lt"/>
                <a:cs typeface="Arial" panose="020B0604020202020204" pitchFamily="34" charset="0"/>
              </a:rPr>
              <a:t>Università di </a:t>
            </a:r>
            <a:r>
              <a:rPr lang="it-IT" altLang="it-IT" dirty="0" smtClean="0">
                <a:solidFill>
                  <a:srgbClr val="222222"/>
                </a:solidFill>
                <a:latin typeface="+mj-lt"/>
                <a:cs typeface="Arial" panose="020B0604020202020204" pitchFamily="34" charset="0"/>
              </a:rPr>
              <a:t>Pavia, </a:t>
            </a:r>
            <a:r>
              <a:rPr lang="it-IT" altLang="it-IT" dirty="0" err="1" smtClean="0">
                <a:solidFill>
                  <a:srgbClr val="222222"/>
                </a:solidFill>
                <a:latin typeface="+mj-lt"/>
                <a:cs typeface="Arial" panose="020B0604020202020204" pitchFamily="34" charset="0"/>
              </a:rPr>
              <a:t>Bachelor</a:t>
            </a:r>
            <a:r>
              <a:rPr lang="it-IT" altLang="it-IT" dirty="0" smtClean="0">
                <a:solidFill>
                  <a:srgbClr val="222222"/>
                </a:solidFill>
                <a:latin typeface="+mj-lt"/>
                <a:cs typeface="Arial" panose="020B0604020202020204" pitchFamily="34" charset="0"/>
              </a:rPr>
              <a:t> </a:t>
            </a:r>
            <a:r>
              <a:rPr lang="it-IT" altLang="it-IT" dirty="0">
                <a:solidFill>
                  <a:srgbClr val="222222"/>
                </a:solidFill>
                <a:latin typeface="+mj-lt"/>
                <a:cs typeface="Arial" panose="020B0604020202020204" pitchFamily="34" charset="0"/>
              </a:rPr>
              <a:t>of </a:t>
            </a:r>
            <a:r>
              <a:rPr lang="it-IT" altLang="it-IT" dirty="0" err="1" smtClean="0">
                <a:solidFill>
                  <a:srgbClr val="222222"/>
                </a:solidFill>
                <a:latin typeface="+mj-lt"/>
                <a:cs typeface="Arial" panose="020B0604020202020204" pitchFamily="34" charset="0"/>
              </a:rPr>
              <a:t>Artificial</a:t>
            </a:r>
            <a:r>
              <a:rPr lang="it-IT" altLang="it-IT" dirty="0" smtClean="0">
                <a:solidFill>
                  <a:srgbClr val="222222"/>
                </a:solidFill>
                <a:latin typeface="+mj-lt"/>
                <a:cs typeface="Arial" panose="020B0604020202020204" pitchFamily="34" charset="0"/>
              </a:rPr>
              <a:t> Intelligence</a:t>
            </a:r>
            <a:endParaRPr lang="it-IT" altLang="it-IT"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0" y="-184666"/>
            <a:ext cx="1219200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3810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Background</a:t>
            </a:r>
            <a:endParaRPr lang="it-IT" dirty="0"/>
          </a:p>
        </p:txBody>
      </p:sp>
      <p:sp>
        <p:nvSpPr>
          <p:cNvPr id="3" name="Segnaposto contenuto 2"/>
          <p:cNvSpPr>
            <a:spLocks noGrp="1"/>
          </p:cNvSpPr>
          <p:nvPr>
            <p:ph idx="1"/>
          </p:nvPr>
        </p:nvSpPr>
        <p:spPr/>
        <p:txBody>
          <a:bodyPr>
            <a:normAutofit fontScale="77500" lnSpcReduction="20000"/>
          </a:bodyPr>
          <a:lstStyle/>
          <a:p>
            <a:r>
              <a:rPr lang="en-US" dirty="0"/>
              <a:t>Recent advances in generative artificial intelligence have produced hyper-realistic synthetic faces that are increasingly difficult to distinguish from real human faces, raising critical questions about how artificial faces are represented in the human brain. Behavioral studies indicate that observers frequently misclassify AI-generated faces as real and often judge them as more familiar or attractive than genuine faces, a phenomenon referred to as </a:t>
            </a:r>
            <a:r>
              <a:rPr lang="en-US" b="1" dirty="0"/>
              <a:t>AI hyperrealism</a:t>
            </a:r>
            <a:r>
              <a:rPr lang="en-US" dirty="0"/>
              <a:t>. The present study investigated whether neural processing differentiates real from highly realistic AI-generated faces despite observers’ limited behavioral discrimination ability, and whether such differentiation is modulated by face sex. Twenty-six participants (30 before artifact rejection) viewed 440 real and GAN-generated male and female faces while EEG was recorded. </a:t>
            </a:r>
            <a:endParaRPr lang="en-US" dirty="0" smtClean="0"/>
          </a:p>
          <a:p>
            <a:r>
              <a:rPr lang="en-US" dirty="0"/>
              <a:t>More recently, advances in AI, particularly Generative Adversarial Networks (GANs), have enabled the creation of increasingly realistic artificial faces (</a:t>
            </a:r>
            <a:r>
              <a:rPr lang="en-US" dirty="0" err="1"/>
              <a:t>Karras</a:t>
            </a:r>
            <a:r>
              <a:rPr lang="en-US" dirty="0"/>
              <a:t> et al., 2019). GANs, which are trained on photographs of real people to generate realistic images of entirely new faces (</a:t>
            </a:r>
            <a:r>
              <a:rPr lang="en-US" dirty="0" err="1"/>
              <a:t>Goodfellow</a:t>
            </a:r>
            <a:r>
              <a:rPr lang="en-US" dirty="0"/>
              <a:t> et al., 2014), have made it progressively more difficult to distinguish real from artificial faces, with important real-world consequences such as </a:t>
            </a:r>
            <a:r>
              <a:rPr lang="en-US" dirty="0" err="1"/>
              <a:t>deepfakes</a:t>
            </a:r>
            <a:r>
              <a:rPr lang="en-US" dirty="0"/>
              <a:t> and social media scams (</a:t>
            </a:r>
            <a:r>
              <a:rPr lang="en-US" dirty="0" err="1"/>
              <a:t>Moshel</a:t>
            </a:r>
            <a:r>
              <a:rPr lang="en-US" dirty="0"/>
              <a:t> et al., 2022).</a:t>
            </a:r>
            <a:endParaRPr lang="it-IT" dirty="0"/>
          </a:p>
          <a:p>
            <a:endParaRPr lang="it-IT" dirty="0"/>
          </a:p>
        </p:txBody>
      </p:sp>
    </p:spTree>
    <p:extLst>
      <p:ext uri="{BB962C8B-B14F-4D97-AF65-F5344CB8AC3E}">
        <p14:creationId xmlns:p14="http://schemas.microsoft.com/office/powerpoint/2010/main" val="178845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p:txBody>
          <a:bodyPr>
            <a:normAutofit lnSpcReduction="10000"/>
          </a:bodyPr>
          <a:lstStyle/>
          <a:p>
            <a:pPr marL="0" indent="0">
              <a:buNone/>
            </a:pPr>
            <a:r>
              <a:rPr lang="en-US" dirty="0"/>
              <a:t>Indeed, the variability characterizing real human faces and GAN-generated faces arises from fundamentally different generative processes. While natural facial variability emerges from complex biological and developmental constraints, resulting in subtle asymmetries and highly idiosyncratic configurations, GAN-generated faces are shaped by algorithmic optimization over learned statistical regularities. As a consequence, synthetic faces often exhibit increased global symmetry and reduced extreme individuality compared to real faces, positioning them closer to the center of the learned face distribution. This structural regularity may enhance perceptual fluency and, in turn, elicit a heightened sense of familiarity, despite a reduction in authentic facial uniqueness.</a:t>
            </a:r>
            <a:endParaRPr lang="it-IT" dirty="0"/>
          </a:p>
        </p:txBody>
      </p:sp>
    </p:spTree>
    <p:extLst>
      <p:ext uri="{BB962C8B-B14F-4D97-AF65-F5344CB8AC3E}">
        <p14:creationId xmlns:p14="http://schemas.microsoft.com/office/powerpoint/2010/main" val="646219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p:cNvPicPr>
            <a:picLocks noChangeAspect="1"/>
          </p:cNvPicPr>
          <p:nvPr/>
        </p:nvPicPr>
        <p:blipFill>
          <a:blip r:embed="rId2"/>
          <a:stretch>
            <a:fillRect/>
          </a:stretch>
        </p:blipFill>
        <p:spPr>
          <a:xfrm>
            <a:off x="775252" y="541944"/>
            <a:ext cx="10792849" cy="5686883"/>
          </a:xfrm>
          <a:prstGeom prst="rect">
            <a:avLst/>
          </a:prstGeom>
        </p:spPr>
      </p:pic>
    </p:spTree>
    <p:extLst>
      <p:ext uri="{BB962C8B-B14F-4D97-AF65-F5344CB8AC3E}">
        <p14:creationId xmlns:p14="http://schemas.microsoft.com/office/powerpoint/2010/main" val="1879166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3591" y="601579"/>
            <a:ext cx="6700896" cy="6103602"/>
          </a:xfrm>
        </p:spPr>
      </p:pic>
    </p:spTree>
    <p:extLst>
      <p:ext uri="{BB962C8B-B14F-4D97-AF65-F5344CB8AC3E}">
        <p14:creationId xmlns:p14="http://schemas.microsoft.com/office/powerpoint/2010/main" val="2459539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1552073" y="805623"/>
            <a:ext cx="834081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GB" dirty="0"/>
              <a:t>Brain bioelectric activity was recorded using a </a:t>
            </a:r>
            <a:r>
              <a:rPr lang="en-GB" dirty="0" err="1"/>
              <a:t>Compumedics</a:t>
            </a:r>
            <a:r>
              <a:rPr lang="en-GB" dirty="0"/>
              <a:t> quick cap neo-net with 128 sensors arranged according to the 10/5% system (</a:t>
            </a:r>
            <a:r>
              <a:rPr lang="en-GB" dirty="0" err="1"/>
              <a:t>Oostenveld</a:t>
            </a:r>
            <a:r>
              <a:rPr lang="en-GB" dirty="0"/>
              <a:t> &amp; </a:t>
            </a:r>
            <a:r>
              <a:rPr lang="en-GB" dirty="0" err="1"/>
              <a:t>Praamstra</a:t>
            </a:r>
            <a:r>
              <a:rPr lang="en-GB" dirty="0"/>
              <a:t>, 2001), with a sampling frequency of 512 Hz. Eye movements (saccades and blinks) were detected via vertical and horizontal electro-</a:t>
            </a:r>
            <a:r>
              <a:rPr lang="en-GB" dirty="0" err="1"/>
              <a:t>oculograms</a:t>
            </a:r>
            <a:r>
              <a:rPr lang="en-GB" dirty="0"/>
              <a:t> (VEOG and HEOG), via bipolar electrodes placed on the side of the eye (outer canthus), and below/above the right eye. </a:t>
            </a:r>
            <a:r>
              <a:rPr lang="en-US" dirty="0"/>
              <a:t>Signals were referenced to a common average reference (CAR) to optimize source reconstruction.</a:t>
            </a:r>
            <a:r>
              <a:rPr lang="en-GB" dirty="0"/>
              <a:t> </a:t>
            </a:r>
            <a:endParaRPr lang="en-GB" dirty="0" smtClean="0"/>
          </a:p>
          <a:p>
            <a:pPr lvl="0" algn="just" eaLnBrk="0" fontAlgn="base" hangingPunct="0">
              <a:spcBef>
                <a:spcPct val="0"/>
              </a:spcBef>
              <a:spcAft>
                <a:spcPct val="0"/>
              </a:spcAft>
            </a:pPr>
            <a:r>
              <a:rPr lang="en-GB" dirty="0" smtClean="0"/>
              <a:t>The </a:t>
            </a:r>
            <a:r>
              <a:rPr lang="en-GB" dirty="0"/>
              <a:t>EEG signals were filtered offline with a 0.01-70 Hz </a:t>
            </a:r>
            <a:r>
              <a:rPr lang="en-GB" dirty="0" err="1"/>
              <a:t>bandpass</a:t>
            </a:r>
            <a:r>
              <a:rPr lang="en-GB" dirty="0"/>
              <a:t> filter. Eye blinks were reduced using the covariance reduction method, and excessively noisy electrodes were interpolated with the four neighbouring electrodes. The EEG was filtered using the threshold method at ± 75 μV, and a 50 Hz notch filter was applied. </a:t>
            </a:r>
            <a:endParaRPr lang="en-GB" dirty="0" smtClean="0"/>
          </a:p>
          <a:p>
            <a:pPr lvl="0" algn="just" eaLnBrk="0" fontAlgn="base" hangingPunct="0">
              <a:spcBef>
                <a:spcPct val="0"/>
              </a:spcBef>
              <a:spcAft>
                <a:spcPct val="0"/>
              </a:spcAft>
            </a:pPr>
            <a:r>
              <a:rPr lang="en-GB" dirty="0" smtClean="0"/>
              <a:t>The </a:t>
            </a:r>
            <a:r>
              <a:rPr lang="en-GB" dirty="0"/>
              <a:t>EEG epochs were synchronized with the onset of the stimuli and analysed using </a:t>
            </a:r>
            <a:r>
              <a:rPr lang="en-GB" i="1" dirty="0"/>
              <a:t>Curry9</a:t>
            </a:r>
            <a:r>
              <a:rPr lang="en-GB" dirty="0"/>
              <a:t> software (</a:t>
            </a:r>
            <a:r>
              <a:rPr lang="en-GB" dirty="0" err="1"/>
              <a:t>Compumedics</a:t>
            </a:r>
            <a:r>
              <a:rPr lang="en-GB" dirty="0"/>
              <a:t> </a:t>
            </a:r>
            <a:r>
              <a:rPr lang="en-GB" dirty="0" err="1"/>
              <a:t>Neuroscan</a:t>
            </a:r>
            <a:r>
              <a:rPr lang="en-US" dirty="0"/>
              <a:t>)</a:t>
            </a:r>
            <a:r>
              <a:rPr lang="en-GB" dirty="0"/>
              <a:t>, </a:t>
            </a:r>
            <a:r>
              <a:rPr lang="en-US" dirty="0"/>
              <a:t>segmented into epochs extending from 100 ms pre-stimulus to 800 ms post-stimulus onset</a:t>
            </a:r>
            <a:r>
              <a:rPr lang="en-GB" dirty="0"/>
              <a:t>. </a:t>
            </a:r>
            <a:endParaRPr lang="en-GB" dirty="0" smtClean="0"/>
          </a:p>
          <a:p>
            <a:pPr lvl="0" algn="just" eaLnBrk="0" fontAlgn="base" hangingPunct="0">
              <a:spcBef>
                <a:spcPct val="0"/>
              </a:spcBef>
              <a:spcAft>
                <a:spcPct val="0"/>
              </a:spcAft>
            </a:pPr>
            <a:r>
              <a:rPr lang="en-GB" dirty="0" smtClean="0"/>
              <a:t>Event-Related </a:t>
            </a:r>
            <a:r>
              <a:rPr lang="en-GB" dirty="0"/>
              <a:t>Potentials (ERPs) were extracted using the offline averaging technique. The electrophysiological data of four subjects were excluded after ERP averaging, because of excessive EEG/EOG artifacts and an insufficient number of trials (</a:t>
            </a:r>
            <a:r>
              <a:rPr lang="en-GB" dirty="0" err="1"/>
              <a:t>belew</a:t>
            </a:r>
            <a:r>
              <a:rPr lang="en-GB" dirty="0"/>
              <a:t> 30%). The final sample comprised twenty-six participants (13 M, 13 F). </a:t>
            </a:r>
            <a:endParaRPr kumimoji="0" lang="it-IT" altLang="it-IT"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859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Partecipanti</a:t>
            </a:r>
            <a:endParaRPr lang="it-IT" dirty="0"/>
          </a:p>
        </p:txBody>
      </p:sp>
      <p:sp>
        <p:nvSpPr>
          <p:cNvPr id="3" name="Segnaposto contenuto 2"/>
          <p:cNvSpPr>
            <a:spLocks noGrp="1"/>
          </p:cNvSpPr>
          <p:nvPr>
            <p:ph idx="1"/>
          </p:nvPr>
        </p:nvSpPr>
        <p:spPr/>
        <p:txBody>
          <a:bodyPr/>
          <a:lstStyle/>
          <a:p>
            <a:pPr marL="0" indent="0" algn="just">
              <a:buNone/>
            </a:pPr>
            <a:r>
              <a:rPr lang="it-IT" dirty="0"/>
              <a:t>Si sono sottoposti alla registrazione EEG 25 soggetti volontari, di cui 13 femmine tra i 20 e i 26 anni </a:t>
            </a:r>
            <a:r>
              <a:rPr lang="it-IT" dirty="0" smtClean="0"/>
              <a:t>(M =23.15</a:t>
            </a:r>
            <a:r>
              <a:rPr lang="it-IT" dirty="0"/>
              <a:t>, </a:t>
            </a:r>
            <a:r>
              <a:rPr lang="it-IT" dirty="0" smtClean="0"/>
              <a:t>SD = 1.63</a:t>
            </a:r>
            <a:r>
              <a:rPr lang="it-IT" dirty="0"/>
              <a:t>) con scolarità media pari a 15.31 anni </a:t>
            </a:r>
            <a:r>
              <a:rPr lang="it-IT" dirty="0" smtClean="0"/>
              <a:t>(SD =2.06</a:t>
            </a:r>
            <a:r>
              <a:rPr lang="it-IT" dirty="0"/>
              <a:t>) e 12 maschi dai 24 ai 29 anni </a:t>
            </a:r>
            <a:r>
              <a:rPr lang="it-IT" dirty="0" smtClean="0"/>
              <a:t>(M = 25, SD =1.85</a:t>
            </a:r>
            <a:r>
              <a:rPr lang="it-IT" dirty="0"/>
              <a:t>), con scolarità media di 15.25 anni </a:t>
            </a:r>
            <a:r>
              <a:rPr lang="it-IT" dirty="0" smtClean="0"/>
              <a:t>(SD =2.14</a:t>
            </a:r>
            <a:r>
              <a:rPr lang="it-IT" dirty="0"/>
              <a:t>). Tutti i soggetti hanno riportato una preferenza laterale destra al Questionario di </a:t>
            </a:r>
            <a:r>
              <a:rPr lang="it-IT" dirty="0" err="1"/>
              <a:t>Salmaso</a:t>
            </a:r>
            <a:r>
              <a:rPr lang="it-IT" dirty="0"/>
              <a:t> e Longoni (1985) e avevano vista normale o corretta; nessuno di essi riferiva una storia di danni neurologici o di problemi di lettura. Hanno tutti dato il proprio consenso scritto. 2 femmine e 2 maschi sono stati eliminati dal processo di </a:t>
            </a:r>
            <a:r>
              <a:rPr lang="it-IT" dirty="0" err="1"/>
              <a:t>averaging</a:t>
            </a:r>
            <a:r>
              <a:rPr lang="it-IT" dirty="0"/>
              <a:t> a causa di un numero eccessivo di artefatti EEG.</a:t>
            </a:r>
          </a:p>
          <a:p>
            <a:endParaRPr lang="it-IT" dirty="0"/>
          </a:p>
        </p:txBody>
      </p:sp>
    </p:spTree>
    <p:extLst>
      <p:ext uri="{BB962C8B-B14F-4D97-AF65-F5344CB8AC3E}">
        <p14:creationId xmlns:p14="http://schemas.microsoft.com/office/powerpoint/2010/main" val="245643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22691" y="164332"/>
            <a:ext cx="6817562" cy="6622403"/>
          </a:xfrm>
        </p:spPr>
      </p:pic>
    </p:spTree>
    <p:extLst>
      <p:ext uri="{BB962C8B-B14F-4D97-AF65-F5344CB8AC3E}">
        <p14:creationId xmlns:p14="http://schemas.microsoft.com/office/powerpoint/2010/main" val="3817543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p:cNvSpPr/>
          <p:nvPr/>
        </p:nvSpPr>
        <p:spPr>
          <a:xfrm>
            <a:off x="1371600" y="546042"/>
            <a:ext cx="5281864" cy="1754326"/>
          </a:xfrm>
          <a:prstGeom prst="rect">
            <a:avLst/>
          </a:prstGeom>
        </p:spPr>
        <p:txBody>
          <a:bodyPr wrap="square">
            <a:spAutoFit/>
          </a:bodyPr>
          <a:lstStyle/>
          <a:p>
            <a:pPr algn="just">
              <a:lnSpc>
                <a:spcPct val="150000"/>
              </a:lnSpc>
              <a:spcAft>
                <a:spcPts val="0"/>
              </a:spcAft>
            </a:pPr>
            <a:r>
              <a:rPr lang="it-IT" dirty="0" smtClean="0">
                <a:latin typeface="Arial" panose="020B0604020202020204" pitchFamily="34" charset="0"/>
                <a:ea typeface="Calibri" panose="020F0502020204030204" pitchFamily="34" charset="0"/>
                <a:cs typeface="Verdana" panose="020B0604030504040204" pitchFamily="34" charset="0"/>
              </a:rPr>
              <a:t>	Facce Ai maschi</a:t>
            </a:r>
            <a:r>
              <a:rPr lang="it-IT" dirty="0">
                <a:latin typeface="Arial" panose="020B0604020202020204" pitchFamily="34" charset="0"/>
                <a:ea typeface="Calibri" panose="020F0502020204030204" pitchFamily="34" charset="0"/>
                <a:cs typeface="Verdana" panose="020B0604030504040204" pitchFamily="34" charset="0"/>
              </a:rPr>
              <a:t>		codice </a:t>
            </a:r>
            <a:r>
              <a:rPr lang="it-IT" dirty="0" smtClean="0">
                <a:latin typeface="Arial" panose="020B0604020202020204" pitchFamily="34" charset="0"/>
                <a:ea typeface="Calibri" panose="020F0502020204030204" pitchFamily="34" charset="0"/>
                <a:cs typeface="Verdana" panose="020B0604030504040204" pitchFamily="34" charset="0"/>
              </a:rPr>
              <a:t>50</a:t>
            </a:r>
            <a:endParaRPr lang="it-IT" sz="1600" dirty="0" smtClean="0">
              <a:effectLst/>
              <a:latin typeface="Calibri" panose="020F0502020204030204" pitchFamily="34" charset="0"/>
              <a:ea typeface="Calibri" panose="020F0502020204030204" pitchFamily="34" charset="0"/>
              <a:cs typeface="Verdana" panose="020B0604030504040204" pitchFamily="34" charset="0"/>
            </a:endParaRPr>
          </a:p>
          <a:p>
            <a:pPr lvl="0" algn="just">
              <a:lnSpc>
                <a:spcPct val="150000"/>
              </a:lnSpc>
              <a:spcAft>
                <a:spcPts val="0"/>
              </a:spcAft>
            </a:pPr>
            <a:r>
              <a:rPr lang="it-IT" dirty="0" smtClean="0">
                <a:latin typeface="Arial" panose="020B0604020202020204" pitchFamily="34" charset="0"/>
                <a:ea typeface="Calibri" panose="020F0502020204030204" pitchFamily="34" charset="0"/>
                <a:cs typeface="Verdana" panose="020B0604030504040204" pitchFamily="34" charset="0"/>
              </a:rPr>
              <a:t>	Facce Ai femmine</a:t>
            </a:r>
            <a:r>
              <a:rPr lang="it-IT" dirty="0">
                <a:latin typeface="Arial" panose="020B0604020202020204" pitchFamily="34" charset="0"/>
                <a:ea typeface="Calibri" panose="020F0502020204030204" pitchFamily="34" charset="0"/>
                <a:cs typeface="Verdana" panose="020B0604030504040204" pitchFamily="34" charset="0"/>
              </a:rPr>
              <a:t>	</a:t>
            </a:r>
            <a:r>
              <a:rPr lang="it-IT" dirty="0" smtClean="0">
                <a:latin typeface="Arial" panose="020B0604020202020204" pitchFamily="34" charset="0"/>
                <a:ea typeface="Calibri" panose="020F0502020204030204" pitchFamily="34" charset="0"/>
                <a:cs typeface="Verdana" panose="020B0604030504040204" pitchFamily="34" charset="0"/>
              </a:rPr>
              <a:t>	codice 60</a:t>
            </a:r>
            <a:endParaRPr lang="it-IT" sz="1600" dirty="0" smtClean="0">
              <a:effectLst/>
              <a:latin typeface="Calibri" panose="020F0502020204030204" pitchFamily="34" charset="0"/>
              <a:ea typeface="Calibri" panose="020F0502020204030204" pitchFamily="34" charset="0"/>
              <a:cs typeface="Verdana" panose="020B0604030504040204" pitchFamily="34" charset="0"/>
            </a:endParaRPr>
          </a:p>
          <a:p>
            <a:pPr marL="503555" algn="just">
              <a:lnSpc>
                <a:spcPct val="150000"/>
              </a:lnSpc>
              <a:spcAft>
                <a:spcPts val="0"/>
              </a:spcAft>
            </a:pPr>
            <a:r>
              <a:rPr lang="it-IT" dirty="0" smtClean="0">
                <a:latin typeface="Arial" panose="020B0604020202020204" pitchFamily="34" charset="0"/>
                <a:ea typeface="Calibri" panose="020F0502020204030204" pitchFamily="34" charset="0"/>
                <a:cs typeface="Verdana" panose="020B0604030504040204" pitchFamily="34" charset="0"/>
              </a:rPr>
              <a:t>	Facce Reali maschi 	codice </a:t>
            </a:r>
            <a:r>
              <a:rPr lang="it-IT" dirty="0">
                <a:latin typeface="Arial" panose="020B0604020202020204" pitchFamily="34" charset="0"/>
                <a:ea typeface="Calibri" panose="020F0502020204030204" pitchFamily="34" charset="0"/>
                <a:cs typeface="Verdana" panose="020B0604030504040204" pitchFamily="34" charset="0"/>
              </a:rPr>
              <a:t>70</a:t>
            </a:r>
            <a:endParaRPr lang="it-IT" sz="1600" dirty="0" smtClean="0">
              <a:effectLst/>
              <a:latin typeface="Calibri" panose="020F0502020204030204" pitchFamily="34" charset="0"/>
              <a:ea typeface="Calibri" panose="020F0502020204030204" pitchFamily="34" charset="0"/>
              <a:cs typeface="Verdana" panose="020B0604030504040204" pitchFamily="34" charset="0"/>
            </a:endParaRPr>
          </a:p>
          <a:p>
            <a:pPr lvl="0" algn="just">
              <a:lnSpc>
                <a:spcPct val="150000"/>
              </a:lnSpc>
              <a:spcAft>
                <a:spcPts val="0"/>
              </a:spcAft>
            </a:pPr>
            <a:r>
              <a:rPr lang="it-IT" dirty="0" smtClean="0">
                <a:latin typeface="Arial" panose="020B0604020202020204" pitchFamily="34" charset="0"/>
                <a:ea typeface="Calibri" panose="020F0502020204030204" pitchFamily="34" charset="0"/>
                <a:cs typeface="Verdana" panose="020B0604030504040204" pitchFamily="34" charset="0"/>
              </a:rPr>
              <a:t>	Facce Reali femmine	codice </a:t>
            </a:r>
            <a:r>
              <a:rPr lang="it-IT" dirty="0">
                <a:latin typeface="Arial" panose="020B0604020202020204" pitchFamily="34" charset="0"/>
                <a:ea typeface="Calibri" panose="020F0502020204030204" pitchFamily="34" charset="0"/>
                <a:cs typeface="Verdana" panose="020B0604030504040204" pitchFamily="34" charset="0"/>
              </a:rPr>
              <a:t>80</a:t>
            </a:r>
            <a:endParaRPr lang="it-IT" sz="1600" dirty="0">
              <a:effectLst/>
              <a:latin typeface="Calibri" panose="020F0502020204030204" pitchFamily="34" charset="0"/>
              <a:ea typeface="Calibri" panose="020F0502020204030204" pitchFamily="34" charset="0"/>
              <a:cs typeface="Verdana" panose="020B0604030504040204" pitchFamily="34" charset="0"/>
            </a:endParaRPr>
          </a:p>
        </p:txBody>
      </p:sp>
    </p:spTree>
    <p:extLst>
      <p:ext uri="{BB962C8B-B14F-4D97-AF65-F5344CB8AC3E}">
        <p14:creationId xmlns:p14="http://schemas.microsoft.com/office/powerpoint/2010/main" val="1729101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p:cNvSpPr/>
          <p:nvPr/>
        </p:nvSpPr>
        <p:spPr>
          <a:xfrm>
            <a:off x="1500256" y="1075971"/>
            <a:ext cx="9808761" cy="4770537"/>
          </a:xfrm>
          <a:prstGeom prst="rect">
            <a:avLst/>
          </a:prstGeom>
        </p:spPr>
        <p:txBody>
          <a:bodyPr wrap="square">
            <a:spAutoFit/>
          </a:bodyPr>
          <a:lstStyle/>
          <a:p>
            <a:r>
              <a:rPr kumimoji="0" lang="it-IT" altLang="it-IT" sz="28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Suggested</a:t>
            </a:r>
            <a:r>
              <a:rPr kumimoji="0" lang="it-IT" altLang="it-IT" sz="2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it-IT" altLang="it-IT" sz="28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electrodes</a:t>
            </a:r>
            <a:r>
              <a:rPr kumimoji="0" lang="it-IT" altLang="it-IT" sz="2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and time </a:t>
            </a:r>
            <a:r>
              <a:rPr kumimoji="0" lang="it-IT" altLang="it-IT" sz="28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window</a:t>
            </a:r>
            <a:endParaRPr kumimoji="0" lang="it-IT" altLang="it-IT" sz="2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endParaRPr kumimoji="0" lang="it-IT" altLang="it-IT" sz="2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r>
              <a:rPr lang="en-GB" sz="2800" dirty="0"/>
              <a:t>O1, O2, PO9, PO10, TP7, TP8, P3, </a:t>
            </a:r>
            <a:r>
              <a:rPr lang="en-GB" sz="2800" dirty="0" smtClean="0"/>
              <a:t>P4, </a:t>
            </a:r>
            <a:r>
              <a:rPr lang="en-GB" sz="2800" dirty="0"/>
              <a:t>AF3, AF4, AFF1h, AFF2h, AFF3h, </a:t>
            </a:r>
            <a:r>
              <a:rPr lang="en-GB" sz="2800" dirty="0" smtClean="0"/>
              <a:t>AFF4h</a:t>
            </a:r>
          </a:p>
          <a:p>
            <a:endParaRPr lang="en-GB" sz="2800" dirty="0" smtClean="0"/>
          </a:p>
          <a:p>
            <a:r>
              <a:rPr kumimoji="0" lang="en-GB" altLang="it-IT" sz="2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200-600 ms</a:t>
            </a:r>
            <a:endParaRPr kumimoji="0" lang="it-IT" altLang="it-IT" sz="2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endParaRPr kumimoji="0" lang="it-IT" altLang="it-IT" sz="2800" b="0" i="0" u="none" strike="noStrike" cap="none" normalizeH="0" baseline="0" dirty="0" smtClean="0">
              <a:ln>
                <a:noFill/>
              </a:ln>
              <a:solidFill>
                <a:schemeClr val="tx1"/>
              </a:solidFill>
              <a:effectLst/>
              <a:latin typeface="Arial" panose="020B0604020202020204" pitchFamily="34" charset="0"/>
            </a:endParaRPr>
          </a:p>
          <a:p>
            <a:endParaRPr lang="it-IT" dirty="0" smtClean="0">
              <a:latin typeface="Arial" panose="020B0604020202020204" pitchFamily="34" charset="0"/>
              <a:ea typeface="Calibri" panose="020F0502020204030204" pitchFamily="34" charset="0"/>
            </a:endParaRPr>
          </a:p>
          <a:p>
            <a:endParaRPr lang="it-IT" dirty="0">
              <a:latin typeface="Arial" panose="020B0604020202020204" pitchFamily="34" charset="0"/>
              <a:ea typeface="Calibri" panose="020F0502020204030204" pitchFamily="34" charset="0"/>
            </a:endParaRPr>
          </a:p>
          <a:p>
            <a:endParaRPr lang="it-IT" dirty="0" smtClean="0">
              <a:latin typeface="Arial" panose="020B0604020202020204" pitchFamily="34" charset="0"/>
              <a:ea typeface="Calibri" panose="020F0502020204030204" pitchFamily="34" charset="0"/>
            </a:endParaRPr>
          </a:p>
          <a:p>
            <a:endParaRPr lang="it-IT" dirty="0">
              <a:latin typeface="Arial" panose="020B0604020202020204" pitchFamily="34" charset="0"/>
            </a:endParaRPr>
          </a:p>
          <a:p>
            <a:endParaRPr lang="it-IT" dirty="0" smtClean="0">
              <a:latin typeface="Arial" panose="020B0604020202020204" pitchFamily="34" charset="0"/>
            </a:endParaRPr>
          </a:p>
          <a:p>
            <a:endParaRPr lang="it-IT" dirty="0"/>
          </a:p>
        </p:txBody>
      </p:sp>
    </p:spTree>
    <p:extLst>
      <p:ext uri="{BB962C8B-B14F-4D97-AF65-F5344CB8AC3E}">
        <p14:creationId xmlns:p14="http://schemas.microsoft.com/office/powerpoint/2010/main" val="59848716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807</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10</vt:i4>
      </vt:variant>
    </vt:vector>
  </HeadingPairs>
  <TitlesOfParts>
    <vt:vector size="15" baseType="lpstr">
      <vt:lpstr>Arial</vt:lpstr>
      <vt:lpstr>Calibri</vt:lpstr>
      <vt:lpstr>Calibri Light</vt:lpstr>
      <vt:lpstr>Verdana</vt:lpstr>
      <vt:lpstr>Tema di Office</vt:lpstr>
      <vt:lpstr>Presentazione standard di PowerPoint</vt:lpstr>
      <vt:lpstr>Background</vt:lpstr>
      <vt:lpstr>Presentazione standard di PowerPoint</vt:lpstr>
      <vt:lpstr>Presentazione standard di PowerPoint</vt:lpstr>
      <vt:lpstr>Presentazione standard di PowerPoint</vt:lpstr>
      <vt:lpstr>Presentazione standard di PowerPoint</vt:lpstr>
      <vt:lpstr>Partecipanti</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mado.proverbio</dc:creator>
  <cp:lastModifiedBy>mado.proverbio@unimib.it</cp:lastModifiedBy>
  <cp:revision>12</cp:revision>
  <dcterms:created xsi:type="dcterms:W3CDTF">2026-01-07T13:57:29Z</dcterms:created>
  <dcterms:modified xsi:type="dcterms:W3CDTF">2026-01-09T10:12:35Z</dcterms:modified>
</cp:coreProperties>
</file>